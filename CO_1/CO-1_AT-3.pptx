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topic. Say that ER modeling is how we plan a database on paper before creating any tables, and that you will use a university as the running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ER modeling in your own words. Then explain the three core ideas using the university example. Mention that the ER diagram is understood by both designers and non-technical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 row by row. Stress the key attribute because it uniquely identifies each entity and later becomes the primary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four entities and their key attributes. Explain why these were chosen: a university needs students who take courses, taught by instructors who belong to departments.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relationship at a time. A student can enroll in many courses and a course has many students (M:N). A department offers many courses, but each course belongs to one department (1:N). Say that this diagram is the centrepiece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Cardinality answers how many; participation answers must it take part. Give the Course and Department example for total participation, which is drawn as a double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diagram is not just a drawing: it converts directly into tables. Point out the Enrollment junction table as the answer to M:N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takeaways in about 30 seconds, then invite questions. Likely questions: difference between 1:N and M:N, and what a weak entity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100" kern="0" dirty="0">
                <a:solidFill>
                  <a:srgbClr val="9FB0B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DATABASE MANAGEMENT SYSTEMS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51280"/>
            <a:ext cx="10883392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0" i="0" dirty="0">
                <a:solidFill>
                  <a:srgbClr val="F6F4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Entity-Relationship Modeling for a University Database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88544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9B27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Pradeep AV · Reg. No. 1921260084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34594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B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SIMATS Engineering · Computer Science and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is ER modeling?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conceptual way to describe the data of an organization as things, facts about those things, and the links between them, before choosing any database software.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2336800"/>
            <a:ext cx="3386614" cy="1591310"/>
          </a:xfrm>
          <a:prstGeom prst="roundRect">
            <a:avLst>
              <a:gd name="adj" fmla="val 478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336800"/>
            <a:ext cx="3386614" cy="1591310"/>
          </a:xfrm>
          <a:custGeom>
            <a:avLst/>
            <a:gdLst/>
            <a:ahLst/>
            <a:cxnLst/>
            <a:rect l="l" t="t" r="r" b="b"/>
            <a:pathLst>
              <a:path w="3386614" h="159131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14" y="0"/>
                </a:lnTo>
                <a:arcTo hR="76200" wR="76200" stAng="16200000" swAng="5400000"/>
                <a:lnTo>
                  <a:pt x="3386614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1F6F8B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616200"/>
            <a:ext cx="301729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Entity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400" y="2979420"/>
            <a:ext cx="301729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real-world thing we store data about, such as a Student or a Course.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14" y="2336800"/>
            <a:ext cx="3386693" cy="1591310"/>
          </a:xfrm>
          <a:prstGeom prst="roundRect">
            <a:avLst>
              <a:gd name="adj" fmla="val 478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14" y="2336800"/>
            <a:ext cx="3386693" cy="1591310"/>
          </a:xfrm>
          <a:custGeom>
            <a:avLst/>
            <a:gdLst/>
            <a:ahLst/>
            <a:cxnLst/>
            <a:rect l="l" t="t" r="r" b="b"/>
            <a:pathLst>
              <a:path w="3386693" h="159131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93" y="0"/>
                </a:lnTo>
                <a:arcTo hR="76200" wR="76200" stAng="16200000" swAng="5400000"/>
                <a:lnTo>
                  <a:pt x="3386693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9621F"/>
          </a:solidFill>
          <a:ln/>
        </p:spPr>
      </p:sp>
      <p:sp>
        <p:nvSpPr>
          <p:cNvPr id="10" name="Text 8"/>
          <p:cNvSpPr/>
          <p:nvPr/>
        </p:nvSpPr>
        <p:spPr>
          <a:xfrm>
            <a:off x="4631214" y="2616200"/>
            <a:ext cx="3017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962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Attribute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214" y="2979420"/>
            <a:ext cx="3017378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fact about an entity, such as a name, a registration number or credits.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507" y="2336800"/>
            <a:ext cx="3386693" cy="1591310"/>
          </a:xfrm>
          <a:prstGeom prst="roundRect">
            <a:avLst>
              <a:gd name="adj" fmla="val 4789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2507" y="2336800"/>
            <a:ext cx="3386693" cy="1591310"/>
          </a:xfrm>
          <a:custGeom>
            <a:avLst/>
            <a:gdLst/>
            <a:ahLst/>
            <a:cxnLst/>
            <a:rect l="l" t="t" r="r" b="b"/>
            <a:pathLst>
              <a:path w="3386693" h="159131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93" y="0"/>
                </a:lnTo>
                <a:arcTo hR="76200" wR="76200" stAng="16200000" swAng="5400000"/>
                <a:lnTo>
                  <a:pt x="3386693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1F6F8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1107" y="2616200"/>
            <a:ext cx="3017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Relationship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1107" y="2979420"/>
            <a:ext cx="301737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link between entities, such as a Student enrolls in a Course.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3071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 Modeling · University Database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Building blocks of an ER diagram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4001"/>
          <a:ext cx="10556240" cy="305816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Element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Drawn as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University example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Entity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Rectangle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Student, Course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Weak entity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Double rectangle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Dependent of an Instructor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Attribute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Oval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Name, Email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Key attribute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Underlined oval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RegNo, CourseID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Multivalued attribute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Double oval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Phone numbers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Relationship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Diamond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Enrolls, Teaches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1"/>
            <a:ext cx="30704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 Modeling · University Database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Entities in our university database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41"/>
            <a:ext cx="2508250" cy="135128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13841"/>
            <a:ext cx="2508250" cy="1351280"/>
          </a:xfrm>
          <a:custGeom>
            <a:avLst/>
            <a:gdLst/>
            <a:ahLst/>
            <a:cxnLst/>
            <a:rect l="l" t="t" r="r" b="b"/>
            <a:pathLst>
              <a:path w="2508250" h="13512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32050" y="0"/>
                </a:lnTo>
                <a:arcTo hR="76200" wR="76200" stAng="16200000" swAng="5400000"/>
                <a:lnTo>
                  <a:pt x="250825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1F6F8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793241"/>
            <a:ext cx="21125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Student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2156461"/>
            <a:ext cx="211258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RegNo (key), Name, DOB, Email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8850" y="1513841"/>
            <a:ext cx="2508250" cy="135128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498850" y="1513841"/>
            <a:ext cx="2508250" cy="1351280"/>
          </a:xfrm>
          <a:custGeom>
            <a:avLst/>
            <a:gdLst/>
            <a:ahLst/>
            <a:cxnLst/>
            <a:rect l="l" t="t" r="r" b="b"/>
            <a:pathLst>
              <a:path w="2508250" h="13512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32050" y="0"/>
                </a:lnTo>
                <a:arcTo hR="76200" wR="76200" stAng="16200000" swAng="5400000"/>
                <a:lnTo>
                  <a:pt x="250825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9621F"/>
          </a:solidFill>
          <a:ln/>
        </p:spPr>
      </p:sp>
      <p:sp>
        <p:nvSpPr>
          <p:cNvPr id="9" name="Text 7"/>
          <p:cNvSpPr/>
          <p:nvPr/>
        </p:nvSpPr>
        <p:spPr>
          <a:xfrm>
            <a:off x="3727450" y="1793241"/>
            <a:ext cx="21125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962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Course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27450" y="2156461"/>
            <a:ext cx="211258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CourseID (key), Title, Credits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4900" y="1513841"/>
            <a:ext cx="2508250" cy="135128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4900" y="1513841"/>
            <a:ext cx="2508250" cy="1351280"/>
          </a:xfrm>
          <a:custGeom>
            <a:avLst/>
            <a:gdLst/>
            <a:ahLst/>
            <a:cxnLst/>
            <a:rect l="l" t="t" r="r" b="b"/>
            <a:pathLst>
              <a:path w="2508250" h="13512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32050" y="0"/>
                </a:lnTo>
                <a:arcTo hR="76200" wR="76200" stAng="16200000" swAng="5400000"/>
                <a:lnTo>
                  <a:pt x="250825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1F6F8B"/>
          </a:solidFill>
          <a:ln/>
        </p:spPr>
      </p:sp>
      <p:sp>
        <p:nvSpPr>
          <p:cNvPr id="13" name="Text 11"/>
          <p:cNvSpPr/>
          <p:nvPr/>
        </p:nvSpPr>
        <p:spPr>
          <a:xfrm>
            <a:off x="6413500" y="1793241"/>
            <a:ext cx="21125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Instructor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13500" y="2156461"/>
            <a:ext cx="211258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EmpID (key), Name, Phone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70950" y="1513841"/>
            <a:ext cx="2508250" cy="1351280"/>
          </a:xfrm>
          <a:prstGeom prst="roundRect">
            <a:avLst>
              <a:gd name="adj" fmla="val 563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870950" y="1513841"/>
            <a:ext cx="2508250" cy="1351280"/>
          </a:xfrm>
          <a:custGeom>
            <a:avLst/>
            <a:gdLst/>
            <a:ahLst/>
            <a:cxnLst/>
            <a:rect l="l" t="t" r="r" b="b"/>
            <a:pathLst>
              <a:path w="2508250" h="13512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32050" y="0"/>
                </a:lnTo>
                <a:arcTo hR="76200" wR="76200" stAng="16200000" swAng="5400000"/>
                <a:lnTo>
                  <a:pt x="250825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9621F"/>
          </a:solidFill>
          <a:ln/>
        </p:spPr>
      </p:sp>
      <p:sp>
        <p:nvSpPr>
          <p:cNvPr id="17" name="Text 15"/>
          <p:cNvSpPr/>
          <p:nvPr/>
        </p:nvSpPr>
        <p:spPr>
          <a:xfrm>
            <a:off x="9099550" y="1793241"/>
            <a:ext cx="21125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962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Department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99550" y="2156461"/>
            <a:ext cx="211258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DeptID (key), DeptName, Office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1191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Four entities are enough to show every major kind of relationship.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39"/>
            <a:ext cx="30729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 Modeling · University Database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university ER diagram</a:t>
            </a:r>
            <a:endParaRPr lang="en-US" sz="3200" dirty="0"/>
          </a:p>
        </p:txBody>
      </p:sp>
      <p:pic>
        <p:nvPicPr>
          <p:cNvPr id="3" name="Image 0" descr="ER diagram: Student enrolls in Course (M:N), Department offers Course (1:N), Instructor teaches Course (1:N), Department employs Instructor (1:N)">    </p:cNvPr>
          <p:cNvPicPr>
            <a:picLocks noChangeAspect="1"/>
          </p:cNvPicPr>
          <p:nvPr/>
        </p:nvPicPr>
        <p:blipFill>
          <a:blip r:embed="rId1"/>
          <a:srcRect l="-41" r="-41" t="0" b="0"/>
          <a:stretch/>
        </p:blipFill>
        <p:spPr>
          <a:xfrm>
            <a:off x="812800" y="1513839"/>
            <a:ext cx="9906000" cy="2832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59993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C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Rectangles are entities, diamonds are relationships, and the letters show cardinality.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30661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 Modeling · University Database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Cardinality and participation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3999"/>
          <a:ext cx="10556240" cy="243332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Constraint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Meaning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In our diagram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One-to-many (1:N)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One entity links to many others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One Department offers many Courses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Many-to-many (M:N)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Both sides link to many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Students enroll in many Courses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Total participation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Every entity must take part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Every Course is offered by a Department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Partial participation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Some entities may not take part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A new Student may have no Enrollment yet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30731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 Modeling · University Database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From diagram to real tables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5181600" cy="1831340"/>
          </a:xfrm>
          <a:prstGeom prst="roundRect">
            <a:avLst>
              <a:gd name="adj" fmla="val 416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13839"/>
            <a:ext cx="5181600" cy="1831340"/>
          </a:xfrm>
          <a:custGeom>
            <a:avLst/>
            <a:gdLst/>
            <a:ahLst/>
            <a:cxnLst/>
            <a:rect l="l" t="t" r="r" b="b"/>
            <a:pathLst>
              <a:path w="5181600" h="183134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05400" y="0"/>
                </a:lnTo>
                <a:arcTo hR="76200" wR="76200" stAng="16200000" swAng="5400000"/>
                <a:lnTo>
                  <a:pt x="518160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1F6F8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793239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8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Mapping rules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2156461"/>
            <a:ext cx="486613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Each entity becomes a table and each key becomes its primary key. A 1:N link becomes a foreign key on the N side. An M:N link becomes its own table, such as Enrollment(RegNo, CourseID, Grade).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513839"/>
            <a:ext cx="5181600" cy="1831340"/>
          </a:xfrm>
          <a:prstGeom prst="roundRect">
            <a:avLst>
              <a:gd name="adj" fmla="val 416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197600" y="1513839"/>
            <a:ext cx="5181600" cy="1831340"/>
          </a:xfrm>
          <a:custGeom>
            <a:avLst/>
            <a:gdLst/>
            <a:ahLst/>
            <a:cxnLst/>
            <a:rect l="l" t="t" r="r" b="b"/>
            <a:pathLst>
              <a:path w="5181600" h="183134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5105400" y="0"/>
                </a:lnTo>
                <a:arcTo hR="76200" wR="76200" stAng="16200000" swAng="5400000"/>
                <a:lnTo>
                  <a:pt x="5181600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C9621F"/>
          </a:solidFill>
          <a:ln/>
        </p:spPr>
      </p:sp>
      <p:sp>
        <p:nvSpPr>
          <p:cNvPr id="9" name="Text 7"/>
          <p:cNvSpPr/>
          <p:nvPr/>
        </p:nvSpPr>
        <p:spPr>
          <a:xfrm>
            <a:off x="6426200" y="1793239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962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Real-world relevance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26200" y="2156461"/>
            <a:ext cx="4866132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Student information systems, course registration portals and timetable tools all start from a model like this, which keeps data consistent and avoids duplication.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30615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 Modeling · University Database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Summary and 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508" y="1513839"/>
            <a:ext cx="1079906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 modeling plans data using entities, attributes and relationships.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Cardinality and participation capture the real rules of the university.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 good ER diagram converts cleanly into relational tables.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682239"/>
            <a:ext cx="10566400" cy="1098550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/>
        </p:spPr>
        <p:txBody>
          <a:bodyPr wrap="square" lIns="206282" tIns="155482" rIns="0" bIns="13008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Elmasri and Navathe, </a:t>
            </a:r>
            <a:r>
              <a:rPr lang="en-US" sz="1300" i="1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Fundamentals of Database Systems</a:t>
            </a:r>
            <a:r>
              <a:rPr lang="en-US" sz="13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, Pearson.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Silberschatz, Korth and Sudarshan, </a:t>
            </a:r>
            <a:r>
              <a:rPr lang="en-US" sz="1300" i="1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Database System Concepts</a:t>
            </a:r>
            <a:r>
              <a:rPr lang="en-US" sz="13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, McGraw-Hill.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Connolly and Begg, </a:t>
            </a:r>
            <a:r>
              <a:rPr lang="en-US" sz="1300" i="1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Database Systems</a:t>
            </a:r>
            <a:r>
              <a:rPr lang="en-US" sz="1300" dirty="0">
                <a:solidFill>
                  <a:srgbClr val="1B273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, Pearson.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30786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ER Modeling · University Database ·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R Modeling for a University Database">
  <a:themeElements>
    <a:clrScheme name="ER Modeling for a University Database">
      <a:dk1>
        <a:srgbClr val="1B2733"/>
      </a:dk1>
      <a:lt1>
        <a:srgbClr val="F6F4EE"/>
      </a:lt1>
      <a:dk2>
        <a:srgbClr val="525A62"/>
      </a:dk2>
      <a:lt2>
        <a:srgbClr val="E0E0DB"/>
      </a:lt2>
      <a:accent1>
        <a:srgbClr val="1F6F8B"/>
      </a:accent1>
      <a:accent2>
        <a:srgbClr val="C9621F"/>
      </a:accent2>
      <a:accent3>
        <a:srgbClr val="E9B27F"/>
      </a:accent3>
      <a:accent4>
        <a:srgbClr val="5C6670"/>
      </a:accent4>
      <a:accent5>
        <a:srgbClr val="9FB0BD"/>
      </a:accent5>
      <a:accent6>
        <a:srgbClr val="9AA0A6"/>
      </a:accent6>
      <a:hlink>
        <a:srgbClr val="0563C1"/>
      </a:hlink>
      <a:folHlink>
        <a:srgbClr val="954F72"/>
      </a:folHlink>
    </a:clrScheme>
    <a:fontScheme name="ER Modeling for a University Databas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Modeling for a University Database</dc:title>
  <dc:subject/>
  <dc:creator/>
  <cp:lastModifiedBy/>
  <cp:revision>1</cp:revision>
  <dcterms:created xsi:type="dcterms:W3CDTF">2026-10-23T08:58:53Z</dcterms:created>
  <dcterms:modified xsi:type="dcterms:W3CDTF">2026-10-23T08:58:53Z</dcterms:modified>
</cp:coreProperties>
</file>